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审核人" initials="S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900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10-17T10:00:00.000" idx="1">
    <p:pos x="10" y="10"/>
    <p:text>请核对面积数据。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讲解时强调工期节点。</a:t>
            </a:r>
          </a:p>
          <a:p>
            <a:r>
              <a:t>第二段备注：质量控制要点。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文本框 100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卡萨布兰卡新城项目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文本框 100"/>
          <p:cNvSpPr txBox="1"/>
          <p:nvPr/>
        </p:nvSpPr>
        <p:spPr>
          <a:xfrm>
            <a:off x="9692640" y="6400800"/>
            <a:ext cx="22860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内部资料 请勿外传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project" TargetMode="External"/><Relationship Id="rId3" Type="http://schemas.openxmlformats.org/officeDocument/2006/relationships/notesSlide" Target="../notesSlides/notesSlide1.xml"/><Relationship Id="rId900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年度项目进展汇报</a:t>
            </a:r>
            <a:br/>
            <a:r>
              <a:t>第三季度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工程管理部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本项目位于卡萨布兰卡，总建筑面积 12 万平方米。</a:t>
            </a:r>
          </a:p>
          <a:p>
            <a:r>
              <a:rPr b="1"/>
              <a:t>注意：</a:t>
            </a:r>
            <a:r>
              <a:t>所有图纸以最新版本为准。</a:t>
            </a:r>
          </a:p>
          <a:p>
            <a:pPr lvl="1"/>
            <a:r>
              <a:t>主体结构已完成 85%，计划年底封顶。</a:t>
            </a:r>
          </a:p>
          <a:p>
            <a:r>
              <a:t>详细资料见</a:t>
            </a:r>
            <a:r>
              <a:rPr>
                <a:hlinkClick r:id="rId2"/>
              </a:rPr>
              <a:t>项目网站</a:t>
            </a:r>
            <a: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施工进度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731520">
                <a:tc>
                  <a:txBody>
                    <a:bodyPr/>
                    <a:lstStyle/>
                    <a:p>
                      <a: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工作内容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负责单位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基础施工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中建一局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钢结构安装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安装公司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601200" y="6035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400"/>
              <a:t>第 </a:t>
            </a:r>
            <a:fld id="{B6F15528-21DE-4FAA-801E-634DDDAF4B2B}" type="slidenum">
              <a:rPr lang="zh-CN" sz="1400"/>
              <a:t>3</a:t>
            </a:fld>
            <a:r>
              <a:rPr lang="zh-CN" sz="1400"/>
              <a:t>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3657600" cy="2011680"/>
            <a:chOff x="914400" y="914400"/>
            <a:chExt cx="3657600" cy="201168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施工准备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201168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现场布置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5486400" y="914400"/>
            <a:ext cx="3657600" cy="1371600"/>
          </a:xfrm>
          <a:prstGeom prst="rect">
            <a:avLst/>
          </a:prstGeom>
          <a:solidFill>
            <a:srgbClr val="2F5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关键路径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29260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完成机电招标</a:t>
            </a:r>
          </a:p>
          <a:p>
            <a:r>
              <a:t>启动幕墙深化设计</a:t>
            </a:r>
          </a:p>
          <a:p>
            <a:r>
              <a:t>组织消防专项验收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000"/>
              <a:t>提交施工方案</a:t>
            </a:r>
          </a:p>
          <a:p>
            <a:pPr marL="342900" indent="-342900">
              <a:buFont typeface="+mj-lt"/>
              <a:buAutoNum type="arabicPeriod"/>
            </a:pPr>
            <a:r>
              <a:t>办理开工许可</a:t>
            </a:r>
          </a:p>
          <a:p>
            <a:pPr marL="342900" indent="-342900">
              <a:buFont typeface="+mj-lt"/>
              <a:buAutoNum type="arabicPeriod"/>
            </a:pPr>
            <a:r>
              <a:t>进场施工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" cy="36576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/>
              <a:t>竖排标题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43200" y="914400"/>
                <a:ext cx="5486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/>
                  <a:t>兼容内容里的文字</a:t>
                </a:r>
              </a:p>
            </p:txBody>
          </p:sp>
        </mc:Choice>
        <mc:Fallback>
          <p:sp>
            <p:nvSpPr>
              <p:cNvPr id="3" name="TextBox 2"/>
              <p:cNvSpPr txBox="1"/>
              <p:nvPr/>
            </p:nvSpPr>
            <p:spPr>
              <a:xfrm>
                <a:off x="2743200" y="914400"/>
                <a:ext cx="5486400" cy="914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000"/>
                  <a:t>兼容内容里的文字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