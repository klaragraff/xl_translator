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</a:rPr>
              <a:t>1 不自动调整（noAutofit）：左边下面空着，右边下面紧挨着形状</a:t>
            </a:r>
          </a:p>
        </p:txBody>
      </p:sp>
      <p:sp>
        <p:nvSpPr>
          <p:cNvPr id="3" name="noauto-free" descr="fit"/>
          <p:cNvSpPr txBox="1"/>
          <p:nvPr/>
        </p:nvSpPr>
        <p:spPr>
          <a:xfrm>
            <a:off x="365760" y="731520"/>
            <a:ext cx="4023360" cy="120700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no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本项目位于城市新区核心地段，总用地面积约十四公顷，规划建设研发办公、配套商业和人才公寓三大功能板块。</a:t>
            </a:r>
          </a:p>
        </p:txBody>
      </p:sp>
      <p:sp>
        <p:nvSpPr>
          <p:cNvPr id="4" name="noauto-blocked" descr="fit"/>
          <p:cNvSpPr txBox="1"/>
          <p:nvPr/>
        </p:nvSpPr>
        <p:spPr>
          <a:xfrm>
            <a:off x="4754880" y="731520"/>
            <a:ext cx="4023360" cy="65836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no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施工期间请严格遵守安全规范，进入现场必须佩戴安全帽并系好安全带。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408176"/>
            <a:ext cx="4023360" cy="548640"/>
          </a:xfrm>
          <a:prstGeom prst="rect">
            <a:avLst/>
          </a:prstGeom>
          <a:solidFill>
            <a:srgbClr val="DDE6F0"/>
          </a:solidFill>
          <a:ln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34455"/>
                </a:solidFill>
              </a:rPr>
              <a:t>（下方已有内容）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 descr="fi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项目总体进度与下阶段计划</a:t>
            </a:r>
          </a:p>
        </p:txBody>
      </p:sp>
      <p:sp>
        <p:nvSpPr>
          <p:cNvPr id="3" name="body" descr="fi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/>
              <a:t>主体结构已完成封顶，较原计划提前两周</a:t>
            </a:r>
          </a:p>
          <a:p>
            <a:r>
              <a:rPr lang="zh-CN"/>
              <a:t>机电安装进入高峰期，现场人员约三百人</a:t>
            </a:r>
          </a:p>
          <a:p>
            <a:r>
              <a:rPr lang="zh-CN"/>
              <a:t>幕墙材料第二批已到场，正在进行验收</a:t>
            </a:r>
          </a:p>
          <a:p>
            <a:r>
              <a:rPr lang="zh-CN"/>
              <a:t>室外管网施工受雨季影响，需调整工序</a:t>
            </a:r>
          </a:p>
          <a:p>
            <a:r>
              <a:rPr lang="zh-CN"/>
              <a:t>下月重点：样板间交付与消防联合调试</a:t>
            </a:r>
          </a:p>
          <a:p>
            <a:r>
              <a:rPr lang="zh-CN"/>
              <a:t>风险提示：部分进口设备到货时间待确认</a:t>
            </a:r>
          </a:p>
          <a:p>
            <a:r>
              <a:rPr lang="zh-CN"/>
              <a:t>质量安全：本月无事故，隐患整改率百分之百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</a:rPr>
              <a:t>3 根据文字调整形状（spAutoFit）：加高 / 加宽 / 长到形状前再缩字</a:t>
            </a:r>
          </a:p>
        </p:txBody>
      </p:sp>
      <p:sp>
        <p:nvSpPr>
          <p:cNvPr id="3" name="spauto-free" descr="fit"/>
          <p:cNvSpPr txBox="1"/>
          <p:nvPr/>
        </p:nvSpPr>
        <p:spPr>
          <a:xfrm>
            <a:off x="365760" y="731520"/>
            <a:ext cx="4023360" cy="65836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会议纪要须在会后两个工作日内发送全体参会人员确认。</a:t>
            </a:r>
          </a:p>
        </p:txBody>
      </p:sp>
      <p:sp>
        <p:nvSpPr>
          <p:cNvPr id="4" name="spauto-label" descr="fit"/>
          <p:cNvSpPr txBox="1"/>
          <p:nvPr/>
        </p:nvSpPr>
        <p:spPr>
          <a:xfrm>
            <a:off x="365760" y="2743200"/>
            <a:ext cx="1463040" cy="36576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设计负责人</a:t>
            </a:r>
          </a:p>
        </p:txBody>
      </p:sp>
      <p:sp>
        <p:nvSpPr>
          <p:cNvPr id="5" name="spauto-near" descr="fit"/>
          <p:cNvSpPr txBox="1"/>
          <p:nvPr/>
        </p:nvSpPr>
        <p:spPr>
          <a:xfrm>
            <a:off x="4754880" y="731520"/>
            <a:ext cx="4023360" cy="65836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监理单位应每周组织一次质量巡查，并形成书面记录。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09928"/>
            <a:ext cx="4023360" cy="548640"/>
          </a:xfrm>
          <a:prstGeom prst="rect">
            <a:avLst/>
          </a:prstGeom>
          <a:solidFill>
            <a:srgbClr val="DDE6F0"/>
          </a:solidFill>
          <a:ln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34455"/>
                </a:solidFill>
              </a:rPr>
              <a:t>（下方已有内容）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主要工程量</a:t>
            </a:r>
          </a:p>
        </p:txBody>
      </p:sp>
      <p:graphicFrame>
        <p:nvGraphicFramePr>
          <p:cNvPr id="3" name="table" descr="fit"/>
          <p:cNvGraphicFramePr>
            <a:graphicFrameLocks noGrp="1"/>
          </p:cNvGraphicFramePr>
          <p:nvPr/>
        </p:nvGraphicFramePr>
        <p:xfrm>
          <a:off x="914400" y="164592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r>
                        <a:rPr sz="1800" b="1" lang="zh-CN" altLang="en-US">
                          <a:latin typeface="Calibri"/>
                          <a:ea typeface="微软雅黑"/>
                        </a:rPr>
                        <a:t>分项工程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zh-CN" altLang="en-US">
                          <a:latin typeface="Calibri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lang="zh-CN" altLang="en-US">
                          <a:latin typeface="Calibri"/>
                          <a:ea typeface="微软雅黑"/>
                        </a:rPr>
                        <a:t>工程量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钢筋混凝土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立方米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一万二千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砌体墙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平方米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八千五百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外墙保温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平方米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lang="zh-CN" altLang="en-US">
                          <a:latin typeface="Calibri"/>
                          <a:ea typeface="微软雅黑"/>
                        </a:rPr>
                        <a:t>六千三百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</a:rPr>
              <a:t>5 组合里的文本框（组合整体放大 1.25 倍）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914400"/>
            <a:ext cx="3657600" cy="1965960"/>
            <a:chOff x="365760" y="914400"/>
            <a:chExt cx="2926080" cy="1572768"/>
          </a:xfrm>
        </p:grpSpPr>
        <p:sp>
          <p:nvSpPr>
            <p:cNvPr id="4" name="group-a" descr="fit"/>
            <p:cNvSpPr txBox="1"/>
            <p:nvPr/>
          </p:nvSpPr>
          <p:spPr>
            <a:xfrm>
              <a:off x="365760" y="914400"/>
              <a:ext cx="2926080" cy="384048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txBody>
            <a:bodyPr wrap="square">
              <a:noAutofit/>
            </a:bodyPr>
            <a:lstStyle/>
            <a:p>
              <a:r>
                <a:rPr sz="1800" b="0" lang="zh-CN" altLang="en-US">
                  <a:latin typeface="Calibri"/>
                  <a:ea typeface="微软雅黑"/>
                </a:rPr>
                <a:t>请于周五前提交月度报表。</a:t>
              </a:r>
            </a:p>
          </p:txBody>
        </p:sp>
        <p:sp>
          <p:nvSpPr>
            <p:cNvPr id="5" name="group-b" descr="fit"/>
            <p:cNvSpPr txBox="1"/>
            <p:nvPr/>
          </p:nvSpPr>
          <p:spPr>
            <a:xfrm>
              <a:off x="365760" y="1828800"/>
              <a:ext cx="2926080" cy="658368"/>
            </a:xfrm>
            <a:prstGeom prst="rect">
              <a:avLst/>
            </a:prstGeom>
            <a:noFill/>
            <a:ln w="9525">
              <a:solidFill>
                <a:srgbClr val="C00000"/>
              </a:solidFill>
            </a:ln>
          </p:spPr>
          <p:txBody>
            <a:bodyPr wrap="square">
              <a:noAutofit/>
            </a:bodyPr>
            <a:lstStyle/>
            <a:p>
              <a:r>
                <a:rPr sz="1800" b="0" lang="zh-CN" altLang="en-US">
                  <a:latin typeface="Calibri"/>
                  <a:ea typeface="微软雅黑"/>
                </a:rPr>
                <a:t>图纸变更需经设计院书面确认。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060"/>
                </a:solidFill>
              </a:rPr>
              <a:t>6 竖排框不动；旋转的框只缩字不加高</a:t>
            </a:r>
          </a:p>
        </p:txBody>
      </p:sp>
      <p:sp>
        <p:nvSpPr>
          <p:cNvPr id="3" name="vertical" descr="fit"/>
          <p:cNvSpPr txBox="1"/>
          <p:nvPr/>
        </p:nvSpPr>
        <p:spPr>
          <a:xfrm>
            <a:off x="548640" y="914400"/>
            <a:ext cx="731520" cy="27432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vert="eaVert">
            <a:no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安全第一预防为主</a:t>
            </a:r>
          </a:p>
        </p:txBody>
      </p:sp>
      <p:sp>
        <p:nvSpPr>
          <p:cNvPr id="4" name="rotated" descr="fit"/>
          <p:cNvSpPr txBox="1"/>
          <p:nvPr/>
        </p:nvSpPr>
        <p:spPr>
          <a:xfrm rot="5400000">
            <a:off x="2743200" y="2286000"/>
            <a:ext cx="3657600" cy="384048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>
            <a:noAutofit/>
          </a:bodyPr>
          <a:lstStyle/>
          <a:p>
            <a:r>
              <a:rPr sz="1800" b="0" lang="zh-CN" altLang="en-US">
                <a:latin typeface="Calibri"/>
                <a:ea typeface="微软雅黑"/>
              </a:rPr>
              <a:t>出入口请保持畅通。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